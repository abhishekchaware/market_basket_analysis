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94" r:id="rId5"/>
    <p:sldId id="291" r:id="rId6"/>
    <p:sldId id="277" r:id="rId7"/>
    <p:sldId id="281" r:id="rId8"/>
    <p:sldId id="2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A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14" y="-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Chaure" userId="fba113479b7a57ea" providerId="LiveId" clId="{9B25FBE3-0DA9-4E62-AA57-5D27FD57C7FE}"/>
    <pc:docChg chg="modSld">
      <pc:chgData name="Abhishek Chaure" userId="fba113479b7a57ea" providerId="LiveId" clId="{9B25FBE3-0DA9-4E62-AA57-5D27FD57C7FE}" dt="2024-09-13T06:43:34.601" v="18" actId="20577"/>
      <pc:docMkLst>
        <pc:docMk/>
      </pc:docMkLst>
      <pc:sldChg chg="modSp mod">
        <pc:chgData name="Abhishek Chaure" userId="fba113479b7a57ea" providerId="LiveId" clId="{9B25FBE3-0DA9-4E62-AA57-5D27FD57C7FE}" dt="2024-09-13T06:43:34.601" v="18" actId="20577"/>
        <pc:sldMkLst>
          <pc:docMk/>
          <pc:sldMk cId="2276843380" sldId="291"/>
        </pc:sldMkLst>
        <pc:graphicFrameChg chg="mod modGraphic">
          <ac:chgData name="Abhishek Chaure" userId="fba113479b7a57ea" providerId="LiveId" clId="{9B25FBE3-0DA9-4E62-AA57-5D27FD57C7FE}" dt="2024-09-13T06:43:34.601" v="18" actId="20577"/>
          <ac:graphicFrameMkLst>
            <pc:docMk/>
            <pc:sldMk cId="2276843380" sldId="291"/>
            <ac:graphicFrameMk id="3" creationId="{07D141B1-9DD2-9283-8D7B-AD9C2B3D365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4BB-0416-B662-7D97-5BF51785B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9C41B-AE61-5A78-5354-72041A1BB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2CD7F-3A30-3D72-753B-67A0FE225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CD58C-AC15-98A5-20FC-7B3781673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9FF26-32FB-4163-947A-DCC71AE1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47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6B4EE-0C6E-2090-FC0F-E8BD1B6E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023E-364A-C64A-291F-71AC3DA4E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2A1AD-8CE6-D423-B0A2-734D2F96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CE2EB-3B19-57C8-DE34-E73ADACEA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CB80E-2836-6DDF-A425-E8789453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87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74077-6FF0-060F-B8F6-D37E2C273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7E928-61BF-F751-A67F-05D270374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AAB24-9909-D0BA-DA54-BC7180371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DDD19-817B-1720-8CF0-B0EC3059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A9CD9-95CD-D494-2016-D7C2596C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9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7F22-66DC-FD2F-603D-32E910B6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EE2F5-7866-50B2-A858-5EAE800B2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0C336-0D59-CC44-88BD-565936EE0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75122-82F1-A8C2-31C7-AAF32EBD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432F1-E5C2-5633-55DC-9F72802E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DCBD6-A229-E8F7-6F3B-63DA8218E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445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BC55-FC29-F4B7-A544-26AAA53EB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8D5F6-EF2B-FBFC-BBEA-9E510C967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C2148-814D-5D6E-AE31-83369018E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9AE35-123B-E6E8-B84D-6CDA7DDED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4A3954-6412-C7B8-F073-DB5D7FC6B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AE1FD7-B7D3-5703-3032-02D885C93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AD3DA5-F7DC-706C-9B4A-BDAB0FA7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D0D6D-10B1-D4B0-C62B-F74A3315E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18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15F0-5EB4-DFD3-18E7-D4A73E56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990AB-9CE3-524E-44F0-CF78462D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BE054-D75F-29EE-3844-623EC4BF6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A9AA9-8301-FCB2-2B4F-F4D19D4F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91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AF553-B643-D93C-E201-6708A2F9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90267A-F063-B688-D6AA-C7C98277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730D2-BEB5-11FF-9EDA-1DD5D6AD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40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40A8E-DA8E-575C-083A-2F1ED4D6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09282-1F70-73B0-7AB1-D472AC3B0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F088D-862C-F3CA-0B52-C15ED9007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7752E-2048-E719-46E8-73C88B997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877F0-4A61-4228-F704-21FAABC5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3C3F9-99DF-3F14-8EBE-6D2359BC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80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BCA64-D3C5-7C17-BF97-61852D0B0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100A2-6BE7-BC00-CAB3-E55B74E1F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71BE2-726C-B5D7-5E03-BBC3E1932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346D2-BF05-E59D-96E0-0812AC1C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6F851-793B-74A1-169F-82802F9F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D0E35-FC3F-3FB0-0E8F-3D54D2C4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501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FE6E3-FFF6-0C2D-4E19-6460F2D4A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129B2-535A-5737-6EAB-D9F0A8A28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5E350-BE9A-3337-9710-6A19B4828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8AF0F-6525-6FD9-D1FC-71B9A646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CF02D-0292-963B-D7AB-02D42523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D94B8C-A1E2-6971-BF1E-AC7E13048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5995F-06CB-28A8-4B1D-5013491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5FCD5-40FA-5B0B-1E9A-B4D3DBEA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17422-F998-4687-D436-E45E0F25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A5EB9-DACB-0F04-1E97-6B716CCA4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59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529D7-5EAE-828F-866C-DFCA135A9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6EC9D-B0C9-818B-3085-93EFDDD37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B0F1-3E58-D6C5-DF39-E30AF26F1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E1DF9-41E4-45FB-AEC6-CCA1E3E51378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50F4-E2F6-8387-0B1A-5704D5222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82F40-C1C4-34E0-E375-44DBF70F8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20D0E-472C-4468-83DB-C197289D0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B921DA-9A17-0E29-F7A6-8F36594FFB4D}"/>
              </a:ext>
            </a:extLst>
          </p:cNvPr>
          <p:cNvSpPr txBox="1"/>
          <p:nvPr/>
        </p:nvSpPr>
        <p:spPr>
          <a:xfrm>
            <a:off x="1446245" y="597455"/>
            <a:ext cx="9060023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</a:t>
            </a:r>
            <a:r>
              <a:rPr lang="en-US" sz="2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By: 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ABHISHEK CHAWARE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SAGAR BOPCHE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ADITYA DHORE</a:t>
            </a: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U.G. Program Computer Science and Engineering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Abha Gaikwad-Patil College of Engineering &amp; Technology, Nagpur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: 2024-2025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19C7FE-8078-F1BF-D169-E54849C779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339" t="41058" r="39173" b="37355"/>
          <a:stretch/>
        </p:blipFill>
        <p:spPr>
          <a:xfrm>
            <a:off x="5284252" y="3429000"/>
            <a:ext cx="1384008" cy="1206571"/>
          </a:xfrm>
          <a:prstGeom prst="rect">
            <a:avLst/>
          </a:prstGeom>
          <a:solidFill>
            <a:schemeClr val="bg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0379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84DE79-EE74-A299-410D-8CB0FA7F750C}"/>
              </a:ext>
            </a:extLst>
          </p:cNvPr>
          <p:cNvSpPr txBox="1"/>
          <p:nvPr/>
        </p:nvSpPr>
        <p:spPr>
          <a:xfrm>
            <a:off x="2815512" y="389167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itchFamily="18" charset="0"/>
              </a:rPr>
              <a:t>INDEX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3506E-34D7-94F8-18CE-56616AC6D324}"/>
              </a:ext>
            </a:extLst>
          </p:cNvPr>
          <p:cNvSpPr txBox="1"/>
          <p:nvPr/>
        </p:nvSpPr>
        <p:spPr>
          <a:xfrm>
            <a:off x="258923" y="1097053"/>
            <a:ext cx="6097554" cy="36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4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lvl="0" indent="-342900">
              <a:lnSpc>
                <a:spcPct val="14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lvl="0" indent="-342900">
              <a:lnSpc>
                <a:spcPct val="14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lnSpc>
                <a:spcPct val="14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4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600147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9AFB10-DD35-F07A-3AFE-DBC6DAE61059}"/>
              </a:ext>
            </a:extLst>
          </p:cNvPr>
          <p:cNvSpPr txBox="1"/>
          <p:nvPr/>
        </p:nvSpPr>
        <p:spPr>
          <a:xfrm>
            <a:off x="1318727" y="209195"/>
            <a:ext cx="9554546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endParaRPr lang="en-US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 is a data mining technique used by retailers to increase sales by better understanding customer purchasing patterns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adoption of market basket analysis was aided by the advent of electronic point-of-sale (POS) systems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market basket analysis, association rules are used to predict the likelihood of products being purchased together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market basket analysis requires a background in statistics and data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well as some algorithmic computer programming skills</a:t>
            </a:r>
            <a:endParaRPr lang="en-US" sz="2000" b="0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 can increase sales and customer satisfaction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442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57B6AF-256A-4819-8C99-2248ACD1CFFC}"/>
              </a:ext>
            </a:extLst>
          </p:cNvPr>
          <p:cNvSpPr/>
          <p:nvPr/>
        </p:nvSpPr>
        <p:spPr>
          <a:xfrm>
            <a:off x="636495" y="224117"/>
            <a:ext cx="103183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 Example:-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go to the supermarket, usually the first thing you do is grab a shopping cart. As you move up and down the aisles, you will pick up certain items and place them in your shopping cart.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typical example of frequent itemset mining is market basket analysis. This process analyzes customer buying habits by finding associations between the different items that customers place in their “shopping baskets” 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discovery of these associations can help retailers develop marketing strategies by gaining insight into which items are frequently purchased together by customers.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information can lead to increased sales by helping retailers do selective marketing and plan their shelf space.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46747B-44DA-4393-92EC-8B5E4F1D1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445" y="3819525"/>
            <a:ext cx="40100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9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CB24B-7CE4-9E69-06BE-C60B4975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D141B1-9DD2-9283-8D7B-AD9C2B3D3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142841"/>
              </p:ext>
            </p:extLst>
          </p:nvPr>
        </p:nvGraphicFramePr>
        <p:xfrm>
          <a:off x="838200" y="1427589"/>
          <a:ext cx="10350910" cy="6654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831">
                  <a:extLst>
                    <a:ext uri="{9D8B030D-6E8A-4147-A177-3AD203B41FA5}">
                      <a16:colId xmlns:a16="http://schemas.microsoft.com/office/drawing/2014/main" val="2647807103"/>
                    </a:ext>
                  </a:extLst>
                </a:gridCol>
                <a:gridCol w="1813971">
                  <a:extLst>
                    <a:ext uri="{9D8B030D-6E8A-4147-A177-3AD203B41FA5}">
                      <a16:colId xmlns:a16="http://schemas.microsoft.com/office/drawing/2014/main" val="3364070946"/>
                    </a:ext>
                  </a:extLst>
                </a:gridCol>
                <a:gridCol w="2654343">
                  <a:extLst>
                    <a:ext uri="{9D8B030D-6E8A-4147-A177-3AD203B41FA5}">
                      <a16:colId xmlns:a16="http://schemas.microsoft.com/office/drawing/2014/main" val="2749012815"/>
                    </a:ext>
                  </a:extLst>
                </a:gridCol>
                <a:gridCol w="4775765">
                  <a:extLst>
                    <a:ext uri="{9D8B030D-6E8A-4147-A177-3AD203B41FA5}">
                      <a16:colId xmlns:a16="http://schemas.microsoft.com/office/drawing/2014/main" val="1837625069"/>
                    </a:ext>
                  </a:extLst>
                </a:gridCol>
              </a:tblGrid>
              <a:tr h="8895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Sr.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Published year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935328"/>
                  </a:ext>
                </a:extLst>
              </a:tr>
              <a:tr h="137588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Tanushi Gorakh</a:t>
                      </a:r>
                      <a:r>
                        <a:rPr lang="en-US" sz="1800" i="0" baseline="300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 dirty="0">
                          <a:effectLst/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and Analysis of Market Basket Analysis Using Aparri Algorithm ,2024</a:t>
                      </a:r>
                    </a:p>
                    <a:p>
                      <a:pPr algn="just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977229"/>
                  </a:ext>
                </a:extLst>
              </a:tr>
              <a:tr h="8895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Bhatnagar, R., &amp; Gupta, 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"Market Basket Analysis: A Review of Techniques and Applications"   - This comprehensive review discussed recent advancements in MBA techniques and their applications across various sectors.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174575"/>
                  </a:ext>
                </a:extLst>
              </a:tr>
              <a:tr h="8895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n-NO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Khan, M. A., &amp; Khan, M. A.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"A Survey of Market Basket Analysis Techniques and Applications"   - This survey analyzed existing MBA techniques and highlighted their practical applications in e-commerce and retail settings.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454336"/>
                  </a:ext>
                </a:extLst>
              </a:tr>
              <a:tr h="8895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Choudhury, S., &amp; Ghosh, 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"Market Basket Analysis Using Machine Learning Techniques: A Survey"    - This paper reviewed the integration of machine learning methods with traditional MBA approaches to enhance predictive capabilities.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814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843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DCA60-3220-C30C-381D-57BA4CA53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17242"/>
            <a:ext cx="10865669" cy="69979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85716-4DDD-A092-A7EC-DF35F9285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265" y="1300065"/>
            <a:ext cx="10515600" cy="2239347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 is an important method of data analysis that can reveal essential details about the behavior and buying habits of your customers. Businesses can make well-informed decisions that enhance sales, customer pleasure, and overall business performance by examining data on which goods are frequently purchased together. 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Cross-selling and upselling is the secret mantra of the retail industry that pushed the consumer to buy more. It has become a thriving factor for such industries that harness patterns with market basket analysis in data mining and derive customer insights to upscale their brand's performance.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435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8D7A-3296-2CCA-57DA-2A503872C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04800"/>
            <a:ext cx="10515600" cy="953729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009C3-AFCD-2FD0-C31B-F2B7607FF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22323"/>
            <a:ext cx="10515600" cy="4467328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dirty="0"/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Raorane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 A., R. V. Kulkarni, and B. D.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Jitkar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"Association rule–extracting knowledge 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market basket analysis." Research Journal of Recent Sciences ISSN 2277 (2012): 2502.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Usharani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S., P. Manju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T. Ananth Kumar, R. Rajmohan, and M. Pavithra. "Smart 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Management Techniques in Industries 5.0." Hybrid Intelligent Approaches for Smart 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Energy: Practical Applications (2022): 225-252.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Aguinis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Herman, Lura E.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Forcum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Harry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"Using market basket analysis in 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research." Journal of Management 39, no. 7 (2013): 1799-1824. 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Badhe, Vivek, </a:t>
            </a:r>
            <a:r>
              <a:rPr lang="en-US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Ramjeevan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Singh Thakur, and G. S. Thakur. "Profit Pattern Mining Using </a:t>
            </a: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 Computing for Decision Making: Pattern Mining Using Vague Set and Genetic </a:t>
            </a: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Algorithm." In Pattern and Data Analysis in Healthcare Settings, pp. 213-239. IGI Global, </a:t>
            </a: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2017. </a:t>
            </a:r>
          </a:p>
          <a:p>
            <a:endParaRPr lang="en-US" sz="1800" dirty="0"/>
          </a:p>
          <a:p>
            <a:pPr marL="342900" indent="-342900" algn="just"/>
            <a:endParaRPr lang="en-IN" sz="18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arenR"/>
            </a:pPr>
            <a:endParaRPr lang="en-IN" sz="18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arenR"/>
            </a:pPr>
            <a:endParaRPr lang="en-IN" sz="1800" dirty="0">
              <a:solidFill>
                <a:schemeClr val="tx1"/>
              </a:solidFill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747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6674-59C3-C850-D075-07D5179B5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368" y="2576052"/>
            <a:ext cx="6626942" cy="108154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  </a:t>
            </a:r>
            <a:r>
              <a:rPr lang="en-IN" sz="6600" b="1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Thank you !</a:t>
            </a:r>
            <a:endParaRPr lang="en-IN" b="1" dirty="0">
              <a:solidFill>
                <a:srgbClr val="C00000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328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</TotalTime>
  <Words>712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Bahnschrift SemiBold SemiConden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Literature review</vt:lpstr>
      <vt:lpstr>Conclusion</vt:lpstr>
      <vt:lpstr>Reference</vt:lpstr>
      <vt:lpstr>  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achal tembhekar</dc:creator>
  <cp:lastModifiedBy>Abhishek Chaure</cp:lastModifiedBy>
  <cp:revision>50</cp:revision>
  <dcterms:created xsi:type="dcterms:W3CDTF">2023-10-23T16:23:18Z</dcterms:created>
  <dcterms:modified xsi:type="dcterms:W3CDTF">2024-09-13T06:43:41Z</dcterms:modified>
</cp:coreProperties>
</file>